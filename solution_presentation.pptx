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Drift-Sense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FDBFE"/>
                </a:solidFill>
              </a:defRPr>
            </a:pPr>
            <a:r>
              <a:t>AI-Powered Navigation-Error Recovery for Wafer Inspection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FFFFFF"/>
                </a:solidFill>
              </a:defRPr>
            </a:pPr>
            <a:r>
              <a:t>A Siamese dense-correlation deep-learning localizer with a global-context head, trained on a physically-grounded synthetic DRAM-SEM generator, that locates a 100x reference patch inside a 10x search image to sub-pixel accuracy.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FFFFFF"/>
                </a:solidFill>
              </a:defRPr>
            </a:pPr>
            <a:r>
              <a:t>Team: KryonixNova</a:t>
            </a:r>
          </a:p>
          <a:p>
            <a:pPr>
              <a:spcAft>
                <a:spcPts val="600"/>
              </a:spcAft>
              <a:defRPr sz="1400" b="0">
                <a:solidFill>
                  <a:srgbClr val="E2E8F0"/>
                </a:solidFill>
              </a:defRPr>
            </a:pPr>
            <a:r>
              <a:t>Members: [MEMBER NAME - ROLE]  |  [MEMBER NAME - ROLE]  |  [MEMBER NAME - ROLE]</a:t>
            </a:r>
          </a:p>
          <a:p>
            <a:pPr>
              <a:spcAft>
                <a:spcPts val="600"/>
              </a:spcAft>
              <a:defRPr sz="1400" b="0">
                <a:solidFill>
                  <a:srgbClr val="E2E8F0"/>
                </a:solidFill>
              </a:defRPr>
            </a:pPr>
            <a:r>
              <a:t>College: [COLLEGE NAME]</a:t>
            </a:r>
          </a:p>
          <a:p>
            <a:pPr>
              <a:spcAft>
                <a:spcPts val="600"/>
              </a:spcAft>
              <a:defRPr sz="1400" b="0">
                <a:solidFill>
                  <a:srgbClr val="E2E8F0"/>
                </a:solidFill>
              </a:defRPr>
            </a:pPr>
            <a:r>
              <a:t>Contact: [CONTACT EMAIL / PHONE]</a:t>
            </a:r>
          </a:p>
          <a:p>
            <a:pPr>
              <a:spcAft>
                <a:spcPts val="600"/>
              </a:spcAft>
              <a:defRPr sz="1200" b="0">
                <a:solidFill>
                  <a:srgbClr val="E2E8F0"/>
                </a:solidFill>
              </a:defRPr>
            </a:pPr>
            <a:r>
              <a:t>SEMI x IESA Hackathon 2026 -- Applied Materials Problem Statement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3A5F"/>
                </a:solidFill>
              </a:defRPr>
            </a:pPr>
            <a:r>
              <a:t>Problem Understanding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Why navigation-error recovery matters in wafer inspection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3A5F"/>
                </a:solidFill>
              </a:defRPr>
            </a:pPr>
            <a:r>
              <a:t>• Semiconductor wafers contain highly repetitive, periodic microscopic structures (DRAM cell arrays: word lines, bit lines, storage-node contacts).</a:t>
            </a:r>
          </a:p>
          <a:p>
            <a:pPr>
              <a:spcAft>
                <a:spcPts val="800"/>
              </a:spcAft>
              <a:defRPr sz="1700">
                <a:solidFill>
                  <a:srgbClr val="1E3A5F"/>
                </a:solidFill>
              </a:defRPr>
            </a:pPr>
            <a:r>
              <a:t>• Inspection tools must repeatedly revisit the same relative location across dies -- stage drift, vibration, and thermal effects cause the tool to land away from the intended site.</a:t>
            </a:r>
          </a:p>
          <a:p>
            <a:pPr>
              <a:spcAft>
                <a:spcPts val="800"/>
              </a:spcAft>
              <a:defRPr sz="1700">
                <a:solidFill>
                  <a:srgbClr val="1E3A5F"/>
                </a:solidFill>
              </a:defRPr>
            </a:pPr>
            <a:r>
              <a:t>• Recovery is visual: given a previously-captured 100x close-up reference image, find the same structure inside a wider, lower-resolution 10x search image and return its centre coordinates.</a:t>
            </a:r>
          </a:p>
          <a:p>
            <a:pPr>
              <a:spcAft>
                <a:spcPts val="800"/>
              </a:spcAft>
              <a:defRPr sz="1700">
                <a:solidFill>
                  <a:srgbClr val="1E3A5F"/>
                </a:solidFill>
              </a:defRPr>
            </a:pPr>
            <a:r>
              <a:t>• The core difficulty is not just matching -- it's disambiguation: a small reference patch can look near-identical to dozens of other lattice repeats. Simple template matching (e.g. classical ZNCC) frequently locks onto the wrong repeat with high confidence.</a:t>
            </a:r>
          </a:p>
          <a:p>
            <a:pPr>
              <a:spcAft>
                <a:spcPts val="800"/>
              </a:spcAft>
              <a:defRPr sz="1700">
                <a:solidFill>
                  <a:srgbClr val="1E3A5F"/>
                </a:solidFill>
              </a:defRPr>
            </a:pPr>
            <a:r>
              <a:t>• Getting this wrong means the tool inspects, measures, or processes the wrong die location -- a real cost in a production inspection pipeline.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Drift-Sense -- KryonixNova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3A5F"/>
                </a:solidFill>
              </a:defRPr>
            </a:pPr>
            <a:r>
              <a:t>Proposed End-to-End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11430000" cy="304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3A5F"/>
                </a:solidFill>
              </a:defRPr>
            </a:pPr>
            <a:r>
              <a:t>• generate_dataset.py builds physically-grounded synthetic reference/search pairs with recorded ground truth (see slide 4).</a:t>
            </a:r>
          </a:p>
          <a:p>
            <a:pPr>
              <a:spcAft>
                <a:spcPts val="800"/>
              </a:spcAft>
              <a:defRPr sz="1500">
                <a:solidFill>
                  <a:srgbClr val="1E3A5F"/>
                </a:solidFill>
              </a:defRPr>
            </a:pPr>
            <a:r>
              <a:t>• localize.py runs the trained model on a pair or an evaluator-supplied batch, no source-code edits between modes.</a:t>
            </a:r>
          </a:p>
          <a:p>
            <a:pPr>
              <a:spcAft>
                <a:spcPts val="800"/>
              </a:spcAft>
              <a:defRPr sz="1500">
                <a:solidFill>
                  <a:srgbClr val="1E3A5F"/>
                </a:solidFill>
              </a:defRPr>
            </a:pPr>
            <a:r>
              <a:t>• scripts/validation_report.py scores the pipeline across noise x geometry conditions and produces the required accuracy/runtime/failure-case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Drift-Sense -- KryonixNova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3A5F"/>
                </a:solidFill>
              </a:defRPr>
            </a:pPr>
            <a:r>
              <a:t>Synthetic-Data Design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DRAM-style structures, chosen and validated end-to-end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3A5F"/>
                </a:solidFill>
              </a:defRPr>
            </a:pPr>
            <a:r>
              <a:t>• Architecture: DRAM-style (folded-bitline 1T-1C array) -- word lines, bit lines, and a checkerboard of storage-node contacts (one per 2 cells, matching real folded-bitline layouts, not a naive full grid).</a:t>
            </a:r>
          </a:p>
          <a:p>
            <a:pPr>
              <a:spcAft>
                <a:spcPts val="800"/>
              </a:spcAft>
              <a:defRPr sz="1500">
                <a:solidFill>
                  <a:srgbClr val="475569"/>
                </a:solidFill>
              </a:defRPr>
            </a:pPr>
            <a:r>
              <a:t>   – Non-proprietary by construction: cell_pitch_nm, word/bit-line width, and contact size are free parameters. No specific process node is implied -- backed by public 1T-1C DRAM literature (see slide 5's citations).</a:t>
            </a:r>
          </a:p>
          <a:p>
            <a:pPr>
              <a:spcAft>
                <a:spcPts val="800"/>
              </a:spcAft>
              <a:defRPr sz="1700">
                <a:solidFill>
                  <a:srgbClr val="1E3A5F"/>
                </a:solidFill>
              </a:defRPr>
            </a:pPr>
            <a:r>
              <a:t>• 6 distinct DRAM presets (dram_1x/dense/loose/wide/compact/legacy) drawn per mat, tiled in independent m x n grids separated by routing-strip material for realistic die-layout diversity.</a:t>
            </a:r>
          </a:p>
          <a:p>
            <a:pPr>
              <a:spcAft>
                <a:spcPts val="800"/>
              </a:spcAft>
              <a:defRPr sz="1700">
                <a:solidFill>
                  <a:srgbClr val="1E3A5F"/>
                </a:solidFill>
              </a:defRPr>
            </a:pPr>
            <a:r>
              <a:t>• Every pair records: random seed, architecture, transformations (scale/rotation), noise settings, and true target-centre coordinates -- full per-pair metadata for reproducibility.</a:t>
            </a:r>
          </a:p>
          <a:p>
            <a:pPr>
              <a:spcAft>
                <a:spcPts val="800"/>
              </a:spcAft>
              <a:defRPr sz="1500">
                <a:solidFill>
                  <a:srgbClr val="475569"/>
                </a:solidFill>
              </a:defRPr>
            </a:pPr>
            <a:r>
              <a:t>   – FinFET pattern code (src/patterns/finfet.py) exists in the repository but was not wired into training for this submission -- DRAM was the chosen, validated architecture (see Limitations, slide 11).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Drift-Sense -- KryonixNova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3A5F"/>
                </a:solidFill>
              </a:defRPr>
            </a:pPr>
            <a:r>
              <a:t>Noise, Blur, Scale &amp; Rotation Modelling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Every augmentation choice backed by a public source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3A5F"/>
                </a:solidFill>
              </a:defRPr>
            </a:pPr>
            <a:r>
              <a:t>• Imaging degradation (two severity profiles, normal/harsh): Poisson shot noise (dose-driven electron-count proxy), detector noise, astigmatism, vignetting, barrel distortion, charging streaks, beam-drift jitter, speckle, salt-and-pepper.</a:t>
            </a:r>
          </a:p>
          <a:p>
            <a:pPr>
              <a:spcAft>
                <a:spcPts val="800"/>
              </a:spcAft>
              <a:defRPr sz="1500">
                <a:solidFill>
                  <a:srgbClr val="1E3A5F"/>
                </a:solidFill>
              </a:defRPr>
            </a:pPr>
            <a:r>
              <a:t>• Scale robustness: reference crops jittered 0.9x-1.1x (an effective 9:1-11:1 relationship against the nominal 10:1), matching the spec's stated test range.</a:t>
            </a:r>
          </a:p>
          <a:p>
            <a:pPr>
              <a:spcAft>
                <a:spcPts val="800"/>
              </a:spcAft>
              <a:defRPr sz="1500">
                <a:solidFill>
                  <a:srgbClr val="1E3A5F"/>
                </a:solidFill>
              </a:defRPr>
            </a:pPr>
            <a:r>
              <a:t>• Rotation robustness: +/-1-2 degree rotation applied to reference crops post-imaging, simulating real capture calibration/stage drift -- ground truth is unaffected, only the reference's content is perturbed.</a:t>
            </a:r>
          </a:p>
          <a:p>
            <a:pPr>
              <a:spcAft>
                <a:spcPts val="800"/>
              </a:spcAft>
              <a:defRPr sz="1500">
                <a:solidFill>
                  <a:srgbClr val="1E3A5F"/>
                </a:solidFill>
              </a:defRPr>
            </a:pPr>
            <a:r>
              <a:t>• Citations: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   – imec, "DRAM peripheral transistors technology platform" -- 1T-1C cell structure.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   – SemiAnalysis, "The Memory Wall: Past, Present, and Future of DRAM" -- word/bit-line array structure.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   – "Correction of SEM Imaging Artifacts..." (Experimental Mechanics, PMC) -- drift/charging-driven image distortion.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   – "SEM Image SNR Monitoring for Micro-Nanomanipulation" (HAL) -- Poisson shot-noise physical basis.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   – Two arXiv papers on training-time rotation/scale augmentation for deep template matching and orientation invariance in feature matchers.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Drift-Sense -- KryonixNova  |  full citations in references/CITATIONS.md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3A5F"/>
                </a:solidFill>
              </a:defRPr>
            </a:pPr>
            <a:r>
              <a:t>Localization Method &amp; Decision Rule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Deep learning: dense correlation + global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3A5F"/>
                </a:solidFill>
              </a:defRPr>
            </a:pPr>
            <a:r>
              <a:t>• Siamese ResNet-18 encoder (destrided, no pretrained weights) -- shared weights encode both the reference and search images into feature maps.</a:t>
            </a:r>
          </a:p>
          <a:p>
            <a:pPr>
              <a:spcAft>
                <a:spcPts val="800"/>
              </a:spcAft>
              <a:defRPr sz="1700">
                <a:solidFill>
                  <a:srgbClr val="1E3A5F"/>
                </a:solidFill>
              </a:defRPr>
            </a:pPr>
            <a:r>
              <a:t>• Dense depthwise cross-correlation slides the reference feature template across the search feature map, producing a correlation heatmap over candidate locations.</a:t>
            </a:r>
          </a:p>
          <a:p>
            <a:pPr>
              <a:spcAft>
                <a:spcPts val="800"/>
              </a:spcAft>
              <a:defRPr sz="1700">
                <a:solidFill>
                  <a:srgbClr val="1E3A5F"/>
                </a:solidFill>
              </a:defRPr>
            </a:pPr>
            <a:r>
              <a:t>• 9-layer dilated convolution context head with a global receptive field -- this is what a purely local encoder/correlation step cannot do: resolve which of several identical-looking lattice repeats is the true match, using mat/die boundaries and aperiodic imaging noise as disambiguating context.</a:t>
            </a:r>
          </a:p>
          <a:p>
            <a:pPr>
              <a:spcAft>
                <a:spcPts val="800"/>
              </a:spcAft>
              <a:defRPr sz="1700">
                <a:solidFill>
                  <a:srgbClr val="1E3A5F"/>
                </a:solidFill>
              </a:defRPr>
            </a:pPr>
            <a:r>
              <a:t>• Training targets: Gaussian heatmap peak + sub-cell offset regression. Loss: focal heatmap loss + offset L1 + a hard-negative margin term.</a:t>
            </a:r>
          </a:p>
          <a:p>
            <a:pPr>
              <a:spcAft>
                <a:spcPts val="800"/>
              </a:spcAft>
              <a:defRPr sz="1700">
                <a:solidFill>
                  <a:srgbClr val="1E3A5F"/>
                </a:solidFill>
              </a:defRPr>
            </a:pPr>
            <a:r>
              <a:t>• Decode: NMS peak extraction, with an explicit centre-tiebreak rule -- if multiple valid matches exist, the candidate closest to the search image's centre is chosen, exactly matching the spec's tie-break requirement.</a:t>
            </a:r>
          </a:p>
          <a:p>
            <a:pPr>
              <a:spcAft>
                <a:spcPts val="800"/>
              </a:spcAft>
              <a:defRPr sz="1700">
                <a:solidFill>
                  <a:srgbClr val="1E3A5F"/>
                </a:solidFill>
              </a:defRPr>
            </a:pPr>
            <a:r>
              <a:t>• Confidence is a peak margin, not a raw score -- the classical ZNCC baseline scored misleadingly high (0.9+) even when wrong ~35% of the time, so absolute score alone doesn't separate right from wrong for this task.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Drift-Sense -- KryonixNova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3A5F"/>
                </a:solidFill>
              </a:defRPr>
            </a:pPr>
            <a:r>
              <a:t>Implementation &amp; Execution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Runs without manual edits, on a fresh machine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3A5F"/>
                </a:solidFill>
              </a:defRPr>
            </a:pPr>
            <a:r>
              <a:t>• Setup: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   – pip install -r requirements.txt</a:t>
            </a:r>
          </a:p>
          <a:p>
            <a:pPr>
              <a:spcAft>
                <a:spcPts val="800"/>
              </a:spcAft>
              <a:defRPr sz="1500">
                <a:solidFill>
                  <a:srgbClr val="1E3A5F"/>
                </a:solidFill>
              </a:defRPr>
            </a:pPr>
            <a:r>
              <a:t>• Generate a dataset (architecture, sample count, output dir all parameterized):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   – python generate_dataset.py --split test --num-samples 30 --output-dir ./output</a:t>
            </a:r>
          </a:p>
          <a:p>
            <a:pPr>
              <a:spcAft>
                <a:spcPts val="800"/>
              </a:spcAft>
              <a:defRPr sz="1500">
                <a:solidFill>
                  <a:srgbClr val="1E3A5F"/>
                </a:solidFill>
              </a:defRPr>
            </a:pPr>
            <a:r>
              <a:t>• Run inference on a single pair (the script Applied Materials will run):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   – python localize.py --reference ref.png --search search.png --xy-only</a:t>
            </a:r>
          </a:p>
          <a:p>
            <a:pPr>
              <a:spcAft>
                <a:spcPts val="800"/>
              </a:spcAft>
              <a:defRPr sz="1500">
                <a:solidFill>
                  <a:srgbClr val="1E3A5F"/>
                </a:solidFill>
              </a:defRPr>
            </a:pPr>
            <a:r>
              <a:t>• Run inference on an evaluator-supplied batch manifest: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   – python localize.py --manifest manifest.csv --output predictions.csv</a:t>
            </a:r>
          </a:p>
          <a:p>
            <a:pPr>
              <a:spcAft>
                <a:spcPts val="800"/>
              </a:spcAft>
              <a:defRPr sz="1500">
                <a:solidFill>
                  <a:srgbClr val="1E3A5F"/>
                </a:solidFill>
              </a:defRPr>
            </a:pPr>
            <a:r>
              <a:t>• Reproduce the full validation report (accuracy, runtime, failure case):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   – python scripts/validation_report.py --checkpoint checkpoints/production_v3/best.pt --n-per-condition 50 --out-dir results</a:t>
            </a:r>
          </a:p>
          <a:p>
            <a:pPr>
              <a:spcAft>
                <a:spcPts val="800"/>
              </a:spcAft>
              <a:defRPr sz="1500">
                <a:solidFill>
                  <a:srgbClr val="1E3A5F"/>
                </a:solidFill>
              </a:defRPr>
            </a:pPr>
            <a:r>
              <a:t>• Generator (generate_dataset.py) and inference (localize.py) are separate, independently-runnable Python scripts -- not a single notebook.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Drift-Sense -- KryonixNova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3A5F"/>
                </a:solidFill>
              </a:defRPr>
            </a:pPr>
            <a:r>
              <a:t>Experiment Setup &amp; Test Diversity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3A5F"/>
                </a:solidFill>
              </a:defRPr>
            </a:pPr>
            <a:r>
              <a:t>• scripts/validation_report.py: 200 independently-generated pairs (50 per condition) across all 4 imaging-noise x geometric-profile combinations (normal/normal, harsh/normal, normal/drift, harsh/drift).</a:t>
            </a:r>
          </a:p>
          <a:p>
            <a:pPr>
              <a:spcAft>
                <a:spcPts val="800"/>
              </a:spcAft>
              <a:defRPr sz="1600">
                <a:solidFill>
                  <a:srgbClr val="1E3A5F"/>
                </a:solidFill>
              </a:defRPr>
            </a:pPr>
            <a:r>
              <a:t>• results/sample_dataset/: a committed, concrete 32-pair example (8 per condition) run end-to-end through generate_dataset.py -&gt; localize.py, combined ground-truth + prediction CSV.</a:t>
            </a:r>
          </a:p>
          <a:p>
            <a:pPr>
              <a:spcAft>
                <a:spcPts val="800"/>
              </a:spcAft>
              <a:defRPr sz="1600">
                <a:solidFill>
                  <a:srgbClr val="1E3A5F"/>
                </a:solidFill>
              </a:defRPr>
            </a:pPr>
            <a:r>
              <a:t>• Diversity covered per the spec's validation requirements: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   – Noise levels: normal and harsh imaging-noise profiles.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   – Target positions: random reference-crop placement per canvas, every sample.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   – Scale: 0.9x-1.1x reference jitter (9:1-11:1 effective ratio).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   – Rotation: +/-1-2 degree reference rotation.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   – 6 DRAM presets, multiple m x n mat-tiling configurations.</a:t>
            </a:r>
          </a:p>
          <a:p>
            <a:pPr>
              <a:spcAft>
                <a:spcPts val="800"/>
              </a:spcAft>
              <a:defRPr sz="1600">
                <a:solidFill>
                  <a:srgbClr val="1E3A5F"/>
                </a:solidFill>
              </a:defRPr>
            </a:pPr>
            <a:r>
              <a:t>• All test samples drawn from a canvas-disjoint seed range, never overlapping training/validation seeds.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Drift-Sense -- KryonixNova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3A5F"/>
                </a:solidFill>
              </a:defRPr>
            </a:pPr>
            <a:r>
              <a:t>Results: Accuracy, Error Statistics &amp; Runtime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030"/>
                <a:gridCol w="1383030"/>
                <a:gridCol w="1383030"/>
                <a:gridCol w="1383030"/>
                <a:gridCol w="1383030"/>
                <a:gridCol w="1383030"/>
                <a:gridCol w="1383030"/>
                <a:gridCol w="138303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Condition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Mean err (px)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Median err (px)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pass@5px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pass@4px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pass@2px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pass@1px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normal / normal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0.64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0.57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0.860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harsh / normal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0.540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normal / drift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0.67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0.59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0.860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harsh / drift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0.540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2918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3A5F"/>
                </a:solidFill>
              </a:defRPr>
            </a:pPr>
            <a:r>
              <a:t>• Pooled: n=200, mean error = 2.47px.</a:t>
            </a:r>
          </a:p>
          <a:p>
            <a:pPr>
              <a:spcAft>
                <a:spcPts val="800"/>
              </a:spcAft>
              <a:defRPr sz="1600">
                <a:solidFill>
                  <a:srgbClr val="1E3A5F"/>
                </a:solidFill>
              </a:defRPr>
            </a:pPr>
            <a:r>
              <a:t>• Runtime: median 22.0ms per pair (model.predict() only, wall-clock via time.perf_counter()) on an NVIDIA GeForce RTX 5060 Ti, Python 3.12.13 -- excludes one-time model-load cost and PNG decode, reported separately.</a:t>
            </a:r>
          </a:p>
          <a:p>
            <a:pPr>
              <a:spcAft>
                <a:spcPts val="800"/>
              </a:spcAft>
              <a:defRPr sz="1600">
                <a:solidFill>
                  <a:srgbClr val="1E3A5F"/>
                </a:solidFill>
              </a:defRPr>
            </a:pPr>
            <a:r>
              <a:t>• results/sample_dataset/ (32-pair committed example): mean error 2.00px, pass@5px = 0.906.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Drift-Sense -- KryonixNova  |  checkpoint: production_v3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3A5F"/>
                </a:solidFill>
              </a:defRPr>
            </a:pPr>
            <a:r>
              <a:t>Robustness Comparison &amp; Ablations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3A5F"/>
                </a:solidFill>
              </a:defRPr>
            </a:pPr>
            <a:r>
              <a:t>• Baselines (scripts/evaluate_localizer.py): B0 classical ZNCC template matching, B1 10x10 grid search, vs. this model (dense correlation + context head) on identical canvas-disjoint samples -- ZNCC scores misleadingly high confidence even when wrong ~35% of the time; this model's margin-based confidence does not share that failure mode.</a:t>
            </a:r>
          </a:p>
          <a:p>
            <a:pPr>
              <a:spcAft>
                <a:spcPts val="800"/>
              </a:spcAft>
              <a:defRPr sz="1700">
                <a:solidFill>
                  <a:srgbClr val="1E3A5F"/>
                </a:solidFill>
              </a:defRPr>
            </a:pPr>
            <a:r>
              <a:t>• Checkpoint trade-off (an honest, load-bearing finding, not a footnote):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291840"/>
          <a:ext cx="1106424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352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Checkpoint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Pooled mean err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harsh/normal pass@5px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production_v3 (default)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2.47px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0.640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Consistent across all 4 tested conditions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production_v5 (AFB fine-tune)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41.06px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100% on real AFB imagery, but lost most harsh-noise robustness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4348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3A5F"/>
                </a:solidFill>
              </a:defRPr>
            </a:pPr>
            <a:r>
              <a:t>• production_v5, fine-tuned on 5000 real AFB-rendered samples, reaches 100% accuracy at every tested tolerance on an independent 2000-sample AFB test set -- but this same validation matrix shows it lost most of production_v3's harsh-noise robustness in the process. Since sponsor test-data noise characteristics are unknown, production_v3's consistency is the safer default (see README section 4/6).</a:t>
            </a:r>
          </a:p>
          <a:p>
            <a:pPr>
              <a:spcAft>
                <a:spcPts val="800"/>
              </a:spcAft>
              <a:defRPr sz="1300">
                <a:solidFill>
                  <a:srgbClr val="1E3A5F"/>
                </a:solidFill>
              </a:defRPr>
            </a:pPr>
            <a:r>
              <a:t>• A1 ablation (ablation_jitter.py): tests whether the model relies on synthetic noise fingerprints rather than genuine aperiodicity -- a normal-&gt;shifted accuracy drop would indicate overfitting to one noise distribution instead of learning aperiodicity in general.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Drift-Sense -- KryonixNova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3A5F"/>
                </a:solidFill>
              </a:defRPr>
            </a:pPr>
            <a:r>
              <a:t>Failure Case, Limitations &amp; Learnings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uccess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743200" cy="2743200"/>
          </a:xfrm>
          <a:prstGeom prst="rect">
            <a:avLst/>
          </a:prstGeom>
        </p:spPr>
      </p:pic>
      <p:pic>
        <p:nvPicPr>
          <p:cNvPr id="5" name="Picture 4" descr="failure_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27432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2062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3A5F"/>
                </a:solidFill>
              </a:defRPr>
            </a:pPr>
            <a:r>
              <a:t>• SUCCESS (left): normal noise, drift geometry -- 0.24px error, confidence 0.879.</a:t>
            </a:r>
          </a:p>
          <a:p>
            <a:pPr>
              <a:spcAft>
                <a:spcPts val="800"/>
              </a:spcAft>
              <a:defRPr sz="1300">
                <a:solidFill>
                  <a:srgbClr val="1E3A5F"/>
                </a:solidFill>
              </a:defRPr>
            </a:pPr>
            <a:r>
              <a:t>• HONEST FAILURE (right): harsh noise, drift geometry -- 16.5px error, confidence 0.481. The model stayed moderately confident despite the large error, suggesting a genuine structural look-alike (periodic-pattern ambiguity) rather than an easily-flagged low-confidence guess -- exactly the failure mode the context head is designed to reduce, not eliminate.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3A5F"/>
                </a:solidFill>
              </a:defRPr>
            </a:pPr>
            <a:r>
              <a:t>• Limitations: DRAM-only training (FinFET unwired); harsh-noise conditions remain the hardest case (pass@1px ~0.22); production_v5 shows a real, measured generalization-vs-robustness trade-off, not yet resolved.</a:t>
            </a:r>
          </a:p>
          <a:p>
            <a:pPr>
              <a:spcAft>
                <a:spcPts val="800"/>
              </a:spcAft>
              <a:defRPr sz="1300">
                <a:solidFill>
                  <a:srgbClr val="1E3A5F"/>
                </a:solidFill>
              </a:defRPr>
            </a:pPr>
            <a:r>
              <a:t>• Learning: catastrophic forgetting appeared twice on different axes -- narrowing training to specific DRAM presets, and fine-tuning on real AFB data -- motivating future work on training that preserves broad robustness while adding new capability.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Drift-Sense -- KryonixNova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3A5F"/>
                </a:solidFill>
              </a:defRPr>
            </a:pPr>
            <a:r>
              <a:t>Conclusion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3A5F"/>
                </a:solidFill>
              </a:defRPr>
            </a:pPr>
            <a:r>
              <a:t>• Drift-Sense demonstrates that a Siamese dense-correlation model with an explicit global-context head reliably resolves periodic-DRAM-lattice ambiguity that simple template matching cannot -- 2.47px pooled mean error, 22ms median runtime per pair.</a:t>
            </a:r>
          </a:p>
          <a:p>
            <a:pPr>
              <a:spcAft>
                <a:spcPts val="800"/>
              </a:spcAft>
              <a:defRPr sz="1700">
                <a:solidFill>
                  <a:srgbClr val="1E3A5F"/>
                </a:solidFill>
              </a:defRPr>
            </a:pPr>
            <a:r>
              <a:t>• Every structural, noise, and augmentation choice is backed by public sources and documented per-pair generation metadata (references/CITATIONS.md).</a:t>
            </a:r>
          </a:p>
          <a:p>
            <a:pPr>
              <a:spcAft>
                <a:spcPts val="800"/>
              </a:spcAft>
              <a:defRPr sz="1700">
                <a:solidFill>
                  <a:srgbClr val="1E3A5F"/>
                </a:solidFill>
              </a:defRPr>
            </a:pPr>
            <a:r>
              <a:t>• Next steps:</a:t>
            </a:r>
          </a:p>
          <a:p>
            <a:pPr>
              <a:spcAft>
                <a:spcPts val="800"/>
              </a:spcAft>
              <a:defRPr sz="1500">
                <a:solidFill>
                  <a:srgbClr val="475569"/>
                </a:solidFill>
              </a:defRPr>
            </a:pPr>
            <a:r>
              <a:t>   – Wire src/patterns/finfet.py into the training pipeline for genuine dual-architecture support.</a:t>
            </a:r>
          </a:p>
          <a:p>
            <a:pPr>
              <a:spcAft>
                <a:spcPts val="800"/>
              </a:spcAft>
              <a:defRPr sz="1500">
                <a:solidFill>
                  <a:srgbClr val="475569"/>
                </a:solidFill>
              </a:defRPr>
            </a:pPr>
            <a:r>
              <a:t>   – Investigate mixed real+synthetic fine-tuning to recover production_v5's AFB generalization without losing production_v3's noise robustness.</a:t>
            </a:r>
          </a:p>
          <a:p>
            <a:pPr>
              <a:spcAft>
                <a:spcPts val="800"/>
              </a:spcAft>
              <a:defRPr sz="1500">
                <a:solidFill>
                  <a:srgbClr val="475569"/>
                </a:solidFill>
              </a:defRPr>
            </a:pPr>
            <a:r>
              <a:t>   – RGB optical-image extension (bonus criterion) once the grayscale SEM task is fully hardened.</a:t>
            </a:r>
          </a:p>
          <a:p>
            <a:pPr>
              <a:spcAft>
                <a:spcPts val="800"/>
              </a:spcAft>
              <a:defRPr sz="1700">
                <a:solidFill>
                  <a:srgbClr val="1E3A5F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700">
                <a:solidFill>
                  <a:srgbClr val="1E3A5F"/>
                </a:solidFill>
              </a:defRPr>
            </a:pPr>
            <a:r>
              <a:t>• Repository: https://github.com/nihaltodurkar-cms/puthere</a:t>
            </a:r>
          </a:p>
          <a:p>
            <a:pPr>
              <a:spcAft>
                <a:spcPts val="800"/>
              </a:spcAft>
              <a:defRPr sz="1700">
                <a:solidFill>
                  <a:srgbClr val="1E3A5F"/>
                </a:solidFill>
              </a:defRPr>
            </a:pPr>
            <a:r>
              <a:t>• Demo video (optional): [VIDEO LINK]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Drift-Sense -- KryonixNova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